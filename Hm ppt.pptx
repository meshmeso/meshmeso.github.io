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 snapToObjects="1">
      <p:cViewPr>
        <p:scale>
          <a:sx n="80" d="100"/>
          <a:sy n="80" d="100"/>
        </p:scale>
        <p:origin x="552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7904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352" y="777240"/>
            <a:ext cx="109728" cy="507492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804672"/>
            <a:ext cx="694944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A2D44"/>
                </a:solidFill>
                <a:latin typeface="Aptos Display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Company Registration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67665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285C84"/>
                </a:solidFill>
                <a:latin typeface="Aptos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Turnover, sector, incorporation and geographic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64922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D343C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50,501 companies analysed after data-quality checks and removal of duplicate and aggregate Summary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868680"/>
            <a:ext cx="3977639" cy="5074920"/>
          </a:xfrm>
          <a:prstGeom prst="roundRect">
            <a:avLst/>
          </a:prstGeom>
          <a:solidFill>
            <a:srgbClr val="F5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55279" y="1143000"/>
            <a:ext cx="329184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6707A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ANALYTICAL APPROACH</a:t>
            </a:r>
          </a:p>
        </p:txBody>
      </p:sp>
      <p:sp>
        <p:nvSpPr>
          <p:cNvPr id="9" name="Oval 8"/>
          <p:cNvSpPr/>
          <p:nvPr/>
        </p:nvSpPr>
        <p:spPr>
          <a:xfrm>
            <a:off x="7955279" y="1627632"/>
            <a:ext cx="384048" cy="384048"/>
          </a:xfrm>
          <a:prstGeom prst="ellipse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55279" y="1664208"/>
            <a:ext cx="384048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609344"/>
            <a:ext cx="27432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A2D44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Data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883664"/>
            <a:ext cx="2743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D343C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Checked missing values and duplicates.</a:t>
            </a:r>
          </a:p>
        </p:txBody>
      </p:sp>
      <p:sp>
        <p:nvSpPr>
          <p:cNvPr id="13" name="Oval 12"/>
          <p:cNvSpPr/>
          <p:nvPr/>
        </p:nvSpPr>
        <p:spPr>
          <a:xfrm>
            <a:off x="7955279" y="2651760"/>
            <a:ext cx="384048" cy="384048"/>
          </a:xfrm>
          <a:prstGeom prst="ellipse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55279" y="2688336"/>
            <a:ext cx="384048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633472"/>
            <a:ext cx="27432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A2D44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Cleaning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907792"/>
            <a:ext cx="27432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D343C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Removed 9 duplicate rows and 10 Summary aggregate rows.</a:t>
            </a:r>
          </a:p>
        </p:txBody>
      </p:sp>
      <p:sp>
        <p:nvSpPr>
          <p:cNvPr id="17" name="Oval 16"/>
          <p:cNvSpPr/>
          <p:nvPr/>
        </p:nvSpPr>
        <p:spPr>
          <a:xfrm>
            <a:off x="7955279" y="3675888"/>
            <a:ext cx="384048" cy="384048"/>
          </a:xfrm>
          <a:prstGeom prst="ellipse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955279" y="3712464"/>
            <a:ext cx="384048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657600"/>
            <a:ext cx="27432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A2D44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Feature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931920"/>
            <a:ext cx="27432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D343C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Average turnover, incorporation year/month and year-on-year growth.</a:t>
            </a:r>
          </a:p>
        </p:txBody>
      </p:sp>
      <p:sp>
        <p:nvSpPr>
          <p:cNvPr id="21" name="Oval 20"/>
          <p:cNvSpPr/>
          <p:nvPr/>
        </p:nvSpPr>
        <p:spPr>
          <a:xfrm>
            <a:off x="7955279" y="4700016"/>
            <a:ext cx="384048" cy="384048"/>
          </a:xfrm>
          <a:prstGeom prst="ellipse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955279" y="4736592"/>
            <a:ext cx="384048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681728"/>
            <a:ext cx="27432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A2D44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Business 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956048"/>
            <a:ext cx="274320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D343C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Compared sector performance, incorporation patterns, turnover consistency and geography.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3886200"/>
            <a:ext cx="205740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68680" y="3886200"/>
            <a:ext cx="73152" cy="1234440"/>
          </a:xfrm>
          <a:prstGeom prst="rect">
            <a:avLst/>
          </a:prstGeom>
          <a:solidFill>
            <a:srgbClr val="285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69848" y="4050791"/>
            <a:ext cx="1691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6707A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ORIGINAL RECORDS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" y="4325112"/>
            <a:ext cx="169164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A2D44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50,520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" y="4818888"/>
            <a:ext cx="16916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D343C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Before cleaning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63240" y="3886200"/>
            <a:ext cx="205740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063240" y="3886200"/>
            <a:ext cx="73152" cy="123444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264408" y="4050791"/>
            <a:ext cx="1691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6707A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FINAL RECORDS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64408" y="4325112"/>
            <a:ext cx="169164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A2D44"/>
                </a:solidFill>
                <a:latin typeface="Aptos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50,501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74830" y="4700016"/>
            <a:ext cx="185495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D343C"/>
                </a:solidFill>
                <a:latin typeface="Aptos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Used for company-level analysis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57800" y="3886200"/>
            <a:ext cx="205740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257800" y="3886200"/>
            <a:ext cx="73152" cy="1234440"/>
          </a:xfrm>
          <a:prstGeom prst="rect">
            <a:avLst/>
          </a:prstGeom>
          <a:solidFill>
            <a:srgbClr val="2F7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458968" y="4050791"/>
            <a:ext cx="1691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6707A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BUSINESS QUESTIONS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58968" y="4325112"/>
            <a:ext cx="169164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A2D44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58968" y="4736592"/>
            <a:ext cx="1901952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D343C"/>
                </a:solidFill>
                <a:latin typeface="Aptos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Answered with Python analysis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E1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1193" y="-58192"/>
            <a:ext cx="10955655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sz="2000" dirty="0"/>
              <a:t>Q1 | </a:t>
            </a:r>
            <a:r>
              <a:rPr lang="en-GB" sz="2000" b="1" dirty="0"/>
              <a:t>Which sector has the highest average turnover per company, and how does this compare to the sector with the most companies registered?</a:t>
            </a:r>
          </a:p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endParaRPr dirty="0"/>
          </a:p>
        </p:txBody>
      </p:sp>
      <p:pic>
        <p:nvPicPr>
          <p:cNvPr id="6" name="Picture 5" descr="q1_avg_turn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" y="914400"/>
            <a:ext cx="6060949" cy="3411955"/>
          </a:xfrm>
          <a:prstGeom prst="rect">
            <a:avLst/>
          </a:prstGeom>
        </p:spPr>
      </p:pic>
      <p:pic>
        <p:nvPicPr>
          <p:cNvPr id="7" name="Picture 6" descr="q1_company_cou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7" y="914399"/>
            <a:ext cx="6047395" cy="349567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4863465"/>
            <a:ext cx="333756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4863465"/>
            <a:ext cx="73152" cy="960120"/>
          </a:xfrm>
          <a:prstGeom prst="rect">
            <a:avLst/>
          </a:prstGeom>
          <a:solidFill>
            <a:srgbClr val="285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4980431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6707A"/>
                </a:solidFill>
                <a:latin typeface="Aptos"/>
              </a:defRPr>
            </a:pPr>
            <a:r>
              <a:rPr dirty="0"/>
              <a:t>HIGHEST AVERAGE TURNOVER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8393" y="5178552"/>
            <a:ext cx="2971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A2D44"/>
                </a:solidFill>
                <a:latin typeface="Aptos"/>
              </a:defRPr>
            </a:pPr>
            <a:r>
              <a:rPr sz="2000" dirty="0"/>
              <a:t>Construction — £3.17m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5567552"/>
            <a:ext cx="297180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D343C"/>
                </a:solidFill>
                <a:latin typeface="Aptos"/>
              </a:defRPr>
            </a:pPr>
            <a:r>
              <a:rPr dirty="0"/>
              <a:t>Average turnover per company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4882515"/>
            <a:ext cx="333756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4882515"/>
            <a:ext cx="73152" cy="96012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36007" y="4989956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6707A"/>
                </a:solidFill>
                <a:latin typeface="Aptos"/>
              </a:defRPr>
            </a:pPr>
            <a:r>
              <a:rPr dirty="0"/>
              <a:t>MOST COMPANIES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5207127"/>
            <a:ext cx="2971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A2D44"/>
                </a:solidFill>
                <a:latin typeface="Aptos"/>
              </a:defRPr>
            </a:pPr>
            <a:r>
              <a:rPr sz="2000" dirty="0"/>
              <a:t>Other — 33,026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7" y="5596127"/>
            <a:ext cx="297180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D343C"/>
                </a:solidFill>
                <a:latin typeface="Aptos"/>
              </a:defRPr>
            </a:pPr>
            <a:r>
              <a:rPr dirty="0"/>
              <a:t>65.4% of the cleaned dataset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4872990"/>
            <a:ext cx="333756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83879" y="4872990"/>
            <a:ext cx="73152" cy="960120"/>
          </a:xfrm>
          <a:prstGeom prst="rect">
            <a:avLst/>
          </a:prstGeom>
          <a:solidFill>
            <a:srgbClr val="2F7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85048" y="4961381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6707A"/>
                </a:solidFill>
                <a:latin typeface="Aptos"/>
              </a:defRPr>
            </a:pPr>
            <a:r>
              <a:rPr dirty="0"/>
              <a:t>KEY 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5130927"/>
            <a:ext cx="2971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A2D44"/>
                </a:solidFill>
                <a:latin typeface="Aptos"/>
              </a:defRPr>
            </a:pPr>
            <a:r>
              <a:rPr sz="2000" dirty="0"/>
              <a:t>Not the same sector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5481827"/>
            <a:ext cx="297180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D343C"/>
                </a:solidFill>
                <a:latin typeface="Aptos"/>
              </a:defRPr>
            </a:pPr>
            <a:r>
              <a:rPr dirty="0"/>
              <a:t>High company volume does not imply highest average turnover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E1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6234" y="860"/>
            <a:ext cx="1147953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Q2 | 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What is the most common month for a business to incorporate, and is this consistent across different sectors?</a:t>
            </a:r>
          </a:p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q2_mon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14400"/>
            <a:ext cx="5623560" cy="390834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960120"/>
            <a:ext cx="237744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355080" y="960120"/>
            <a:ext cx="73152" cy="1097280"/>
          </a:xfrm>
          <a:prstGeom prst="rect">
            <a:avLst/>
          </a:prstGeom>
          <a:solidFill>
            <a:srgbClr val="285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56248" y="1124712"/>
            <a:ext cx="201168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6707A"/>
                </a:solidFill>
                <a:latin typeface="Aptos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MOST COMMON 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7673" y="1351407"/>
            <a:ext cx="20116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A2D44"/>
                </a:solidFill>
                <a:latin typeface="Aptos"/>
              </a:defRPr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January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1778508"/>
            <a:ext cx="20116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D343C"/>
                </a:solidFill>
                <a:latin typeface="Aptos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5,101 companies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960120"/>
            <a:ext cx="237744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961120" y="960120"/>
            <a:ext cx="73152" cy="109728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62288" y="1124712"/>
            <a:ext cx="2130552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6707A"/>
                </a:solidFill>
                <a:latin typeface="Aptos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SECTORS PEAKING IN JANUARY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1322832"/>
            <a:ext cx="20116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A2D44"/>
                </a:solidFill>
                <a:latin typeface="Aptos"/>
              </a:defRPr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4 of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62288" y="1635633"/>
            <a:ext cx="20116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D343C"/>
                </a:solidFill>
                <a:latin typeface="Aptos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Consultancy, Education, Other and Retail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331720"/>
            <a:ext cx="49377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6707A"/>
                </a:solidFill>
                <a:latin typeface="Aptos"/>
              </a:defRPr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PEAK MONTH BY SECTOR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946470"/>
              </p:ext>
            </p:extLst>
          </p:nvPr>
        </p:nvGraphicFramePr>
        <p:xfrm>
          <a:off x="6355080" y="2697480"/>
          <a:ext cx="507492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7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7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1727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Sector</a:t>
                      </a:r>
                    </a:p>
                  </a:txBody>
                  <a:tcPr>
                    <a:solidFill>
                      <a:srgbClr val="1A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Peak month</a:t>
                      </a:r>
                    </a:p>
                  </a:txBody>
                  <a:tcPr>
                    <a:solidFill>
                      <a:srgbClr val="1A2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72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Construction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November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72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Consultancy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January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72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January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72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Farming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April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72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Healthcare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September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72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Maintenance &amp; Repair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72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Manufacturing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April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72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Other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January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72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January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73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Transport &amp; Logistics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rPr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November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85800" y="4922520"/>
            <a:ext cx="52120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A2D44"/>
                </a:solidFill>
                <a:latin typeface="Aptos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January is the most common month overall, but the pattern is not uniform across sectors.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E1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-66128"/>
            <a:ext cx="1090803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Q3 | 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Which sector shows the most consistent change in turnover year-on-year across the full period, and what does this suggest about that sector’s future performance?</a:t>
            </a:r>
          </a:p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endParaRPr lang="en-GB" sz="2000" dirty="0"/>
          </a:p>
        </p:txBody>
      </p:sp>
      <p:pic>
        <p:nvPicPr>
          <p:cNvPr id="6" name="Picture 5" descr="q3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868680"/>
            <a:ext cx="7360920" cy="477056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01000" y="914400"/>
            <a:ext cx="3611880" cy="5212080"/>
          </a:xfrm>
          <a:prstGeom prst="roundRect">
            <a:avLst/>
          </a:prstGeom>
          <a:solidFill>
            <a:srgbClr val="F5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75320" y="1188720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6707A"/>
                </a:solidFill>
                <a:latin typeface="Aptos"/>
              </a:defRPr>
            </a:pPr>
            <a:r>
              <a:t>MOST CONSISTENT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1572768"/>
            <a:ext cx="2926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A2D44"/>
                </a:solidFill>
                <a:latin typeface="Aptos"/>
              </a:defRPr>
            </a:pPr>
            <a:r>
              <a:t>Healthcare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084831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D343C"/>
                </a:solidFill>
                <a:latin typeface="Aptos"/>
              </a:defRPr>
            </a:pPr>
            <a:r>
              <a:t>Growth stayed close to 10% in every year-on-year period.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275320" y="2788920"/>
          <a:ext cx="288036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285C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Growth</a:t>
                      </a:r>
                    </a:p>
                  </a:txBody>
                  <a:tcPr>
                    <a:solidFill>
                      <a:srgbClr val="285C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10.0%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10.4%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43C"/>
                          </a:solidFill>
                          <a:latin typeface="Aptos"/>
                        </a:defRPr>
                      </a:pPr>
                      <a:r>
                        <a:t>10.2%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275320" y="4617720"/>
            <a:ext cx="2880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6707A"/>
                </a:solidFill>
                <a:latin typeface="Aptos"/>
              </a:defRPr>
            </a:pPr>
            <a:r>
              <a:t>Growth variation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4983480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D69E2E"/>
                </a:solidFill>
                <a:latin typeface="Aptos"/>
              </a:defRPr>
            </a:pPr>
            <a:r>
              <a:t>0.256 percentage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5532120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D343C"/>
                </a:solidFill>
                <a:latin typeface="Aptos"/>
              </a:defRPr>
            </a:pPr>
            <a:r>
              <a:t>This indicates historically predictable turnover growth, although it does not guarantee future performance.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E1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8264" y="-6008"/>
            <a:ext cx="11265408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Q4 |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What other conclusions can be drawn from the data. We are particularly interested in trends over time, and comparisons between different geographic areas.</a:t>
            </a:r>
          </a:p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q4_country_c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35" y="954112"/>
            <a:ext cx="5962589" cy="3667504"/>
          </a:xfrm>
          <a:prstGeom prst="rect">
            <a:avLst/>
          </a:prstGeom>
        </p:spPr>
      </p:pic>
      <p:pic>
        <p:nvPicPr>
          <p:cNvPr id="7" name="Picture 6" descr="q4_incorporation_re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896112"/>
            <a:ext cx="5623560" cy="371848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88264" y="4695490"/>
            <a:ext cx="347472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88264" y="4695490"/>
            <a:ext cx="73152" cy="914400"/>
          </a:xfrm>
          <a:prstGeom prst="rect">
            <a:avLst/>
          </a:prstGeom>
          <a:solidFill>
            <a:srgbClr val="285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9432" y="4783025"/>
            <a:ext cx="31089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6707A"/>
                </a:solidFill>
                <a:latin typeface="Aptos"/>
              </a:defRPr>
            </a:pPr>
            <a:r>
              <a:rPr sz="1000" dirty="0">
                <a:latin typeface="Arial" panose="020B0604020202020204" pitchFamily="34" charset="0"/>
                <a:cs typeface="Arial" panose="020B0604020202020204" pitchFamily="34" charset="0"/>
              </a:rPr>
              <a:t>UK CONCENTRATION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144" y="5025811"/>
            <a:ext cx="31089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A2D44"/>
                </a:solidFill>
                <a:latin typeface="Aptos"/>
              </a:defRPr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50,093 companies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5365034"/>
            <a:ext cx="31089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D343C"/>
                </a:solidFill>
                <a:latin typeface="Aptos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99.2% of the cleaned dataset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97095" y="4690872"/>
            <a:ext cx="347472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197095" y="4690872"/>
            <a:ext cx="73152" cy="9144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16551" y="4779193"/>
            <a:ext cx="31089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6707A"/>
                </a:solidFill>
                <a:latin typeface="Aptos"/>
              </a:defRPr>
            </a:pPr>
            <a:r>
              <a:rPr sz="1000" dirty="0">
                <a:latin typeface="Arial" panose="020B0604020202020204" pitchFamily="34" charset="0"/>
                <a:cs typeface="Arial" panose="020B0604020202020204" pitchFamily="34" charset="0"/>
              </a:rPr>
              <a:t>HIGHEST OBSERVED COUNTRY AVERAGE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4358" y="5039092"/>
            <a:ext cx="31089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A2D44"/>
                </a:solidFill>
                <a:latin typeface="Aptos"/>
              </a:defRPr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Sweden — £1.84m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05926" y="4690872"/>
            <a:ext cx="347472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805926" y="4690872"/>
            <a:ext cx="73152" cy="914400"/>
          </a:xfrm>
          <a:prstGeom prst="rect">
            <a:avLst/>
          </a:prstGeom>
          <a:solidFill>
            <a:srgbClr val="2F7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07094" y="4794504"/>
            <a:ext cx="310896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6707A"/>
                </a:solidFill>
                <a:latin typeface="Aptos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RECENT INCORPORATION TREND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7094" y="5001768"/>
            <a:ext cx="31089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A2D44"/>
                </a:solidFill>
                <a:latin typeface="Aptos"/>
              </a:defRPr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3,456 → 6,653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7094" y="5324856"/>
            <a:ext cx="31089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D343C"/>
                </a:solidFill>
                <a:latin typeface="Aptos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2021 to 2024; 2026 has only 12 records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E1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389</Words>
  <Application>Microsoft Office PowerPoint</Application>
  <PresentationFormat>Widescreen</PresentationFormat>
  <Paragraphs>93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Mmesoma Nwanejuafor</dc:creator>
  <cp:keywords/>
  <dc:description>generated using python-pptx</dc:description>
  <cp:lastModifiedBy>Mmesoma Nwanejuafor</cp:lastModifiedBy>
  <cp:revision>2</cp:revision>
  <dcterms:created xsi:type="dcterms:W3CDTF">2013-01-27T09:14:16Z</dcterms:created>
  <dcterms:modified xsi:type="dcterms:W3CDTF">2026-08-09T17:02:33Z</dcterms:modified>
  <cp:category/>
</cp:coreProperties>
</file>